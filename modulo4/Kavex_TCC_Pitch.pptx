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Somos a Kavex, criada pela Clonex. Nos próximos seis minutos vocês vão ver como validamos, com receita real e bootstrap puro, um modelo de engenharia deployada para o Comércio Exterior brasileiro.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Importante: tudo o que está neste slide foi observado de dentro de uma operação real — não veio de pesquisa de mercado. O custo do processo manual chega à controladoria como número que não fecha.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problema persiste porque ninguém combina as duas coisas: quem constrói não entende Comex, e quem entende Comex não constrói. É exatamente esse espaço que o nosso modelo ocupa.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Nosso modelo: células de engenharia com domínio de Comex, deployadas dentro da operação do cliente e contratadas por resultado — não por horas. E isso já está rodando em produção.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Reparem no padrão dos três fluxos: o sistema executa o mecânico, o humano decide o que exige julgamento, e a auditoria registra tudo. Esse é o desenho de toda solução Kavex.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Vale uma pausa nos números: R$ 43 mil de receita recorrente mensal, com um único cliente enterprise, sem um real de capital externo. É isso que diferencia este projeto de um TCC típico.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Ganhamos dinheiro com mensalidade pré-paga por célula e crescemos dentro do cliente. A segunda célula na Columbia nasceu de demanda puxada pelo próprio cliente — sinal de product-market fit do modelo.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Escolhemos o beachhead pelo acesso real que o time já tem ao segmento: tradings com dor aguda em reconciliação, pagamentos e documentação — e capacidade de pagar. Os adjacentes vêm na sequência.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Honestidade calibrada: a marca ainda é pequena, e tudo bem. O ativo não é fama — é difícil de copiar: domínio aprendido de dentro, dados proprietários e custo de troca crescente.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Definimos um critério falseável de transição entre fases: reuso de código acima de 70% do cliente um para o cliente dois valida a plataforma. É método, não aposta.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Construímos de dentro da operação, com receita antes de captação e plataforma como destino. Obrigado — estamos abertos a perguntas.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Apêndice para o Q&amp;A: profundidade técnica das soluções, caso a banca queira entrar nesse nível.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53495" y="3357314"/>
            <a:ext cx="3761809" cy="146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250" b="1" spc="-337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Kavex</a:t>
            </a:r>
            <a:endParaRPr lang="en-US" sz="11250" dirty="0"/>
          </a:p>
        </p:txBody>
      </p:sp>
      <p:sp>
        <p:nvSpPr>
          <p:cNvPr id="3" name="Shape 1"/>
          <p:cNvSpPr/>
          <p:nvPr/>
        </p:nvSpPr>
        <p:spPr>
          <a:xfrm>
            <a:off x="10931921" y="4308326"/>
            <a:ext cx="247551" cy="247551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4" name="Text 2"/>
          <p:cNvSpPr/>
          <p:nvPr/>
        </p:nvSpPr>
        <p:spPr>
          <a:xfrm>
            <a:off x="7539665" y="5052715"/>
            <a:ext cx="3208422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75" b="1" spc="338" kern="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 BY CLONEX</a:t>
            </a:r>
            <a:endParaRPr lang="en-US" sz="1875" dirty="0"/>
          </a:p>
        </p:txBody>
      </p:sp>
      <p:sp>
        <p:nvSpPr>
          <p:cNvPr id="5" name="Shape 3"/>
          <p:cNvSpPr/>
          <p:nvPr/>
        </p:nvSpPr>
        <p:spPr>
          <a:xfrm>
            <a:off x="8839150" y="5876479"/>
            <a:ext cx="609575" cy="18976"/>
          </a:xfrm>
          <a:prstGeom prst="rect">
            <a:avLst/>
          </a:prstGeom>
          <a:solidFill>
            <a:srgbClr val="3F3F3F"/>
          </a:solidFill>
          <a:ln/>
        </p:spPr>
      </p:sp>
      <p:sp>
        <p:nvSpPr>
          <p:cNvPr id="6" name="Text 4"/>
          <p:cNvSpPr/>
          <p:nvPr/>
        </p:nvSpPr>
        <p:spPr>
          <a:xfrm>
            <a:off x="3901766" y="6409655"/>
            <a:ext cx="10484344" cy="5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3150" spc="-31" kern="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Engenharia deployada para o Comércio Exterior brasileiro.</a:t>
            </a:r>
            <a:endParaRPr lang="en-US" sz="3150" dirty="0"/>
          </a:p>
        </p:txBody>
      </p:sp>
      <p:sp>
        <p:nvSpPr>
          <p:cNvPr id="7" name="Text 5"/>
          <p:cNvSpPr/>
          <p:nvPr/>
        </p:nvSpPr>
        <p:spPr>
          <a:xfrm>
            <a:off x="-274320" y="9291712"/>
            <a:ext cx="1883664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75" spc="113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 — Trilha de Empreendedorismo · Inteli · 2026</a:t>
            </a:r>
            <a:endParaRPr lang="en-US" sz="18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40594"/>
            <a:ext cx="323825" cy="28525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3" name="Text 1"/>
          <p:cNvSpPr/>
          <p:nvPr/>
        </p:nvSpPr>
        <p:spPr>
          <a:xfrm>
            <a:off x="1504900" y="800075"/>
            <a:ext cx="1870819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spc="225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PROBLEMA</a:t>
            </a:r>
            <a:endParaRPr lang="en-US" sz="1875" dirty="0"/>
          </a:p>
        </p:txBody>
      </p:sp>
      <p:sp>
        <p:nvSpPr>
          <p:cNvPr id="4" name="Text 2"/>
          <p:cNvSpPr/>
          <p:nvPr/>
        </p:nvSpPr>
        <p:spPr>
          <a:xfrm>
            <a:off x="1047750" y="1452438"/>
            <a:ext cx="15304770" cy="13867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4500" b="1" spc="-90" kern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Comex brasileiro roda em processo manual — </a:t>
            </a:r>
            <a:pPr algn="l" indent="0" marL="0">
              <a:lnSpc>
                <a:spcPct val="118000"/>
              </a:lnSpc>
              <a:buNone/>
            </a:pPr>
            <a:r>
              <a:rPr lang="en-US" sz="4500" b="1" spc="-9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o custo chega à controladoria como dado que não fecha.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1047750" y="3334370"/>
            <a:ext cx="5219650" cy="4095626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7937">
            <a:solidFill>
              <a:srgbClr val="E5E5E5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436687" y="3761383"/>
            <a:ext cx="4575029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PERMUTAS / MÊS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36687" y="4253508"/>
            <a:ext cx="4575029" cy="75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b="1" spc="-108" kern="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120–200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1436687" y="5164088"/>
            <a:ext cx="4575029" cy="1529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025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Reconciliadas à mão no ERP, entre adiantamentos e invoices — backlog invisível que distorce decisões de capital de giro e câmbio.</a:t>
            </a:r>
            <a:endParaRPr lang="en-US" sz="2025" dirty="0"/>
          </a:p>
        </p:txBody>
      </p:sp>
      <p:sp>
        <p:nvSpPr>
          <p:cNvPr id="9" name="Shape 7"/>
          <p:cNvSpPr/>
          <p:nvPr/>
        </p:nvSpPr>
        <p:spPr>
          <a:xfrm>
            <a:off x="6534051" y="3334370"/>
            <a:ext cx="5219774" cy="4095626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7937">
            <a:solidFill>
              <a:srgbClr val="E5E5E5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922988" y="3761383"/>
            <a:ext cx="4575156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PAGAMENTOS DE IMPORTAÇÃO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922988" y="4253508"/>
            <a:ext cx="4575156" cy="1478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b="1" spc="-108" kern="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Multa + juros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6922988" y="5884168"/>
            <a:ext cx="4575156" cy="1156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025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Aprovados, mas não executados por falha de processo — resultando em multa, juros e trava operacional.</a:t>
            </a:r>
            <a:endParaRPr lang="en-US" sz="2025" dirty="0"/>
          </a:p>
        </p:txBody>
      </p:sp>
      <p:sp>
        <p:nvSpPr>
          <p:cNvPr id="13" name="Shape 11"/>
          <p:cNvSpPr/>
          <p:nvPr/>
        </p:nvSpPr>
        <p:spPr>
          <a:xfrm>
            <a:off x="12020476" y="3334370"/>
            <a:ext cx="5219774" cy="4095626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7937">
            <a:solidFill>
              <a:srgbClr val="E5E5E5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2409412" y="3761383"/>
            <a:ext cx="4575156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NOTAS CRÉDITO / DÉBITO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409412" y="4253508"/>
            <a:ext cx="4575156" cy="75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b="1" spc="-108" kern="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~300 / mês</a:t>
            </a:r>
            <a:endParaRPr lang="en-US" sz="5400" dirty="0"/>
          </a:p>
        </p:txBody>
      </p:sp>
      <p:sp>
        <p:nvSpPr>
          <p:cNvPr id="16" name="Text 14"/>
          <p:cNvSpPr/>
          <p:nvPr/>
        </p:nvSpPr>
        <p:spPr>
          <a:xfrm>
            <a:off x="12409412" y="5164088"/>
            <a:ext cx="4575156" cy="1156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025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Presas em rascunho, aguardando anexação manual de documento — travando o fechamento financeiro.</a:t>
            </a:r>
            <a:endParaRPr lang="en-US" sz="20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40594"/>
            <a:ext cx="323825" cy="28525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3" name="Text 1"/>
          <p:cNvSpPr/>
          <p:nvPr/>
        </p:nvSpPr>
        <p:spPr>
          <a:xfrm>
            <a:off x="1504900" y="800075"/>
            <a:ext cx="4587036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spc="225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O PROBLEMA PERSISTE</a:t>
            </a:r>
            <a:endParaRPr lang="en-US" sz="1875" dirty="0"/>
          </a:p>
        </p:txBody>
      </p:sp>
      <p:sp>
        <p:nvSpPr>
          <p:cNvPr id="4" name="Text 2"/>
          <p:cNvSpPr/>
          <p:nvPr/>
        </p:nvSpPr>
        <p:spPr>
          <a:xfrm>
            <a:off x="1047750" y="1452438"/>
            <a:ext cx="15304770" cy="13867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4500" b="1" spc="-90" kern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genérico não entende Comex. Consultoria não constrói.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1047750" y="3067720"/>
            <a:ext cx="10104816" cy="4648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conhecimento que resolve o problema está preso dentro da operação.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47750" y="4104059"/>
            <a:ext cx="5010125" cy="434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 / SaaS genérico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047750" y="4710410"/>
            <a:ext cx="4864199" cy="9525"/>
          </a:xfrm>
          <a:prstGeom prst="rect">
            <a:avLst/>
          </a:prstGeom>
          <a:solidFill>
            <a:srgbClr val="C0C0C0"/>
          </a:solidFill>
          <a:ln/>
        </p:spPr>
      </p:sp>
      <p:sp>
        <p:nvSpPr>
          <p:cNvPr id="8" name="Text 6"/>
          <p:cNvSpPr/>
          <p:nvPr/>
        </p:nvSpPr>
        <p:spPr>
          <a:xfrm>
            <a:off x="1047750" y="4929311"/>
            <a:ext cx="5010125" cy="12380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conhece NCM, emolumento, fin010. O domínio do Comex não cabe em configuração.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6445250" y="4104059"/>
            <a:ext cx="9525" cy="2025179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10" name="Text 8"/>
          <p:cNvSpPr/>
          <p:nvPr/>
        </p:nvSpPr>
        <p:spPr>
          <a:xfrm>
            <a:off x="6986488" y="4104059"/>
            <a:ext cx="4452650" cy="434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Consultoria / BPO tradicional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6986488" y="4710410"/>
            <a:ext cx="4322961" cy="9525"/>
          </a:xfrm>
          <a:prstGeom prst="rect">
            <a:avLst/>
          </a:prstGeom>
          <a:solidFill>
            <a:srgbClr val="C0C0C0"/>
          </a:solidFill>
          <a:ln/>
        </p:spPr>
      </p:sp>
      <p:sp>
        <p:nvSpPr>
          <p:cNvPr id="12" name="Text 10"/>
          <p:cNvSpPr/>
          <p:nvPr/>
        </p:nvSpPr>
        <p:spPr>
          <a:xfrm>
            <a:off x="6986488" y="4929311"/>
            <a:ext cx="4452650" cy="12380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Diagnostica o processo, mas não entrega sistema. O relatório não executa.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11842749" y="4104059"/>
            <a:ext cx="9525" cy="2025179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14" name="Text 12"/>
          <p:cNvSpPr/>
          <p:nvPr/>
        </p:nvSpPr>
        <p:spPr>
          <a:xfrm>
            <a:off x="12383988" y="4104059"/>
            <a:ext cx="5001950" cy="434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house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12383988" y="4710410"/>
            <a:ext cx="4856262" cy="9525"/>
          </a:xfrm>
          <a:prstGeom prst="rect">
            <a:avLst/>
          </a:prstGeom>
          <a:solidFill>
            <a:srgbClr val="C0C0C0"/>
          </a:solidFill>
          <a:ln/>
        </p:spPr>
      </p:sp>
      <p:sp>
        <p:nvSpPr>
          <p:cNvPr id="16" name="Text 14"/>
          <p:cNvSpPr/>
          <p:nvPr/>
        </p:nvSpPr>
        <p:spPr>
          <a:xfrm>
            <a:off x="12383988" y="4929311"/>
            <a:ext cx="5001950" cy="8380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Constrói, mas sem domínio — vira body shop contratado por horas.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40594"/>
            <a:ext cx="323825" cy="28525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3" name="Text 1"/>
          <p:cNvSpPr/>
          <p:nvPr/>
        </p:nvSpPr>
        <p:spPr>
          <a:xfrm>
            <a:off x="1504900" y="800075"/>
            <a:ext cx="444217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spc="225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SOLUÇÃO · O MODELO KAVEX</a:t>
            </a:r>
            <a:endParaRPr lang="en-US" sz="1875" dirty="0"/>
          </a:p>
        </p:txBody>
      </p:sp>
      <p:sp>
        <p:nvSpPr>
          <p:cNvPr id="4" name="Text 2"/>
          <p:cNvSpPr/>
          <p:nvPr/>
        </p:nvSpPr>
        <p:spPr>
          <a:xfrm>
            <a:off x="1047750" y="1452438"/>
            <a:ext cx="15304770" cy="13867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4500" b="1" spc="-90" kern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Células de engenharia + expertise em Comex, </a:t>
            </a:r>
            <a:pPr algn="l" indent="0" marL="0">
              <a:lnSpc>
                <a:spcPct val="118000"/>
              </a:lnSpc>
              <a:buNone/>
            </a:pPr>
            <a:r>
              <a:rPr lang="en-US" sz="4500" b="1" spc="-9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deployadas dentro da operação do cliente.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1047750" y="3296295"/>
            <a:ext cx="16192500" cy="9525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6" name="Text 4"/>
          <p:cNvSpPr/>
          <p:nvPr/>
        </p:nvSpPr>
        <p:spPr>
          <a:xfrm>
            <a:off x="1047750" y="3628058"/>
            <a:ext cx="121920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8C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2495476" y="3628058"/>
            <a:ext cx="5101590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700" b="1" spc="-27" kern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Contrata-se resultado, não horas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7753201" y="3675683"/>
            <a:ext cx="9771660" cy="8380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Alocação de capacidade dedicada, roadmap sequencial e critérios de aceite por outcome.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1047750" y="4809133"/>
            <a:ext cx="16192500" cy="9525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10" name="Text 8"/>
          <p:cNvSpPr/>
          <p:nvPr/>
        </p:nvSpPr>
        <p:spPr>
          <a:xfrm>
            <a:off x="1047750" y="5140896"/>
            <a:ext cx="121920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8C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2495476" y="5140896"/>
            <a:ext cx="510159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700" b="1" spc="-27" kern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Humano no controle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7753201" y="5188521"/>
            <a:ext cx="9771660" cy="8380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Automação assistida: a solução executa o mecânico, o analista decide o que exige julgamento — tudo com trilha de auditoria completa.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1047750" y="7815461"/>
            <a:ext cx="16192500" cy="9525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14" name="Shape 12"/>
          <p:cNvSpPr/>
          <p:nvPr/>
        </p:nvSpPr>
        <p:spPr>
          <a:xfrm>
            <a:off x="1047750" y="6312297"/>
            <a:ext cx="16192500" cy="9525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15" name="Text 13"/>
          <p:cNvSpPr/>
          <p:nvPr/>
        </p:nvSpPr>
        <p:spPr>
          <a:xfrm>
            <a:off x="1047750" y="6644060"/>
            <a:ext cx="121920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8C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2495476" y="6644060"/>
            <a:ext cx="510159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700" b="1" spc="-27" kern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Domínio composto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7753201" y="6691685"/>
            <a:ext cx="9771660" cy="8380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deployment acumula conhecimento de Comex que nenhum concorrente genérico consegue replicar.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047750" y="9153549"/>
            <a:ext cx="958489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75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Forward Deployed Engineering — prática validada globalmente pela Palantir.</a:t>
            </a:r>
            <a:endParaRPr lang="en-US" sz="18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40594"/>
            <a:ext cx="323825" cy="28525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3" name="Text 1"/>
          <p:cNvSpPr/>
          <p:nvPr/>
        </p:nvSpPr>
        <p:spPr>
          <a:xfrm>
            <a:off x="1504900" y="800075"/>
            <a:ext cx="5215538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spc="225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PRODUÇÃO · COLUMBIA TRADING</a:t>
            </a:r>
            <a:endParaRPr lang="en-US" sz="1875" dirty="0"/>
          </a:p>
        </p:txBody>
      </p:sp>
      <p:sp>
        <p:nvSpPr>
          <p:cNvPr id="4" name="Text 2"/>
          <p:cNvSpPr/>
          <p:nvPr/>
        </p:nvSpPr>
        <p:spPr>
          <a:xfrm>
            <a:off x="1047750" y="1452438"/>
            <a:ext cx="15304770" cy="12517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4050" b="1" spc="-81" kern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é piloto. </a:t>
            </a:r>
            <a:pPr algn="l" indent="0" marL="0">
              <a:lnSpc>
                <a:spcPct val="118000"/>
              </a:lnSpc>
              <a:buNone/>
            </a:pPr>
            <a:r>
              <a:rPr lang="en-US" sz="4050" b="1" spc="-81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operação em produção numa das maiores tradings do país.</a:t>
            </a:r>
            <a:endParaRPr lang="en-US" sz="4050" dirty="0"/>
          </a:p>
        </p:txBody>
      </p:sp>
      <p:sp>
        <p:nvSpPr>
          <p:cNvPr id="5" name="Text 3"/>
          <p:cNvSpPr/>
          <p:nvPr/>
        </p:nvSpPr>
        <p:spPr>
          <a:xfrm>
            <a:off x="3333750" y="3123282"/>
            <a:ext cx="4225137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EXECUTA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35900" y="3123282"/>
            <a:ext cx="4225137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ANALISTA DECIDE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138050" y="3123282"/>
            <a:ext cx="4225137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FF8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47750" y="3990702"/>
            <a:ext cx="2171700" cy="4270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spc="-23" kern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Permutas</a:t>
            </a:r>
            <a:endParaRPr lang="en-US" sz="2325" dirty="0"/>
          </a:p>
        </p:txBody>
      </p:sp>
      <p:sp>
        <p:nvSpPr>
          <p:cNvPr id="9" name="Shape 7"/>
          <p:cNvSpPr/>
          <p:nvPr/>
        </p:nvSpPr>
        <p:spPr>
          <a:xfrm>
            <a:off x="3333750" y="3596308"/>
            <a:ext cx="4102075" cy="1177727"/>
          </a:xfrm>
          <a:prstGeom prst="roundRect">
            <a:avLst>
              <a:gd name="adj" fmla="val 8088"/>
            </a:avLst>
          </a:prstGeom>
          <a:solidFill>
            <a:srgbClr val="FFFFFF"/>
          </a:solidFill>
          <a:ln w="7937">
            <a:solidFill>
              <a:srgbClr val="E5E5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08338" y="3851796"/>
            <a:ext cx="3659486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75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Reconciliação diária do backlog elegível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7588225" y="4034358"/>
            <a:ext cx="495275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235900" y="3596308"/>
            <a:ext cx="4102075" cy="1177727"/>
          </a:xfrm>
          <a:prstGeom prst="roundRect">
            <a:avLst>
              <a:gd name="adj" fmla="val 8088"/>
            </a:avLst>
          </a:prstGeom>
          <a:solidFill>
            <a:srgbClr val="FFFFFF"/>
          </a:solidFill>
          <a:ln w="7937">
            <a:solidFill>
              <a:srgbClr val="E5E5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10488" y="3851796"/>
            <a:ext cx="3659486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75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Analista trata apenas as exceções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12490375" y="4034358"/>
            <a:ext cx="495275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13138050" y="3596308"/>
            <a:ext cx="4102075" cy="1177727"/>
          </a:xfrm>
          <a:prstGeom prst="roundRect">
            <a:avLst>
              <a:gd name="adj" fmla="val 8088"/>
            </a:avLst>
          </a:prstGeom>
          <a:solidFill>
            <a:srgbClr val="FFF0E3"/>
          </a:solidFill>
          <a:ln w="7937">
            <a:solidFill>
              <a:srgbClr val="FFD9B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412638" y="3851796"/>
            <a:ext cx="3659486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75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Permuta no ERP em D0/D+1 · backlog tendendo a zero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1047750" y="5339829"/>
            <a:ext cx="2171700" cy="4270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spc="-23" kern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SISPAG</a:t>
            </a:r>
            <a:endParaRPr lang="en-US" sz="2325" dirty="0"/>
          </a:p>
        </p:txBody>
      </p:sp>
      <p:sp>
        <p:nvSpPr>
          <p:cNvPr id="18" name="Shape 16"/>
          <p:cNvSpPr/>
          <p:nvPr/>
        </p:nvSpPr>
        <p:spPr>
          <a:xfrm>
            <a:off x="3333750" y="4945434"/>
            <a:ext cx="4102075" cy="1177727"/>
          </a:xfrm>
          <a:prstGeom prst="roundRect">
            <a:avLst>
              <a:gd name="adj" fmla="val 8088"/>
            </a:avLst>
          </a:prstGeom>
          <a:solidFill>
            <a:srgbClr val="FFFFFF"/>
          </a:solidFill>
          <a:ln w="7937">
            <a:solidFill>
              <a:srgbClr val="E5E5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08338" y="5200923"/>
            <a:ext cx="3659486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75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Lote diário de pagamentos montado pela solução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7588225" y="5383485"/>
            <a:ext cx="495275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8235900" y="4945434"/>
            <a:ext cx="4102075" cy="1177727"/>
          </a:xfrm>
          <a:prstGeom prst="roundRect">
            <a:avLst>
              <a:gd name="adj" fmla="val 8088"/>
            </a:avLst>
          </a:prstGeom>
          <a:solidFill>
            <a:srgbClr val="FFFFFF"/>
          </a:solidFill>
          <a:ln w="7937">
            <a:solidFill>
              <a:srgbClr val="E5E5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10488" y="5200923"/>
            <a:ext cx="3659486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75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Analista finaliza, envia ao banco e concilia</a:t>
            </a:r>
            <a:endParaRPr lang="en-US" sz="1875" dirty="0"/>
          </a:p>
        </p:txBody>
      </p:sp>
      <p:sp>
        <p:nvSpPr>
          <p:cNvPr id="23" name="Text 21"/>
          <p:cNvSpPr/>
          <p:nvPr/>
        </p:nvSpPr>
        <p:spPr>
          <a:xfrm>
            <a:off x="12490375" y="5383485"/>
            <a:ext cx="495275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13138050" y="4945434"/>
            <a:ext cx="4102075" cy="1177727"/>
          </a:xfrm>
          <a:prstGeom prst="roundRect">
            <a:avLst>
              <a:gd name="adj" fmla="val 8088"/>
            </a:avLst>
          </a:prstGeom>
          <a:solidFill>
            <a:srgbClr val="FFF0E3"/>
          </a:solidFill>
          <a:ln w="7937">
            <a:solidFill>
              <a:srgbClr val="FFD9B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412638" y="5200923"/>
            <a:ext cx="3659486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75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pagamentos perdidos por falha de processo</a:t>
            </a:r>
            <a:endParaRPr lang="en-US" sz="1875" dirty="0"/>
          </a:p>
        </p:txBody>
      </p:sp>
      <p:sp>
        <p:nvSpPr>
          <p:cNvPr id="26" name="Text 24"/>
          <p:cNvSpPr/>
          <p:nvPr/>
        </p:nvSpPr>
        <p:spPr>
          <a:xfrm>
            <a:off x="1047750" y="6688956"/>
            <a:ext cx="2171700" cy="4270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spc="-23" kern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 GED</a:t>
            </a:r>
            <a:endParaRPr lang="en-US" sz="2325" dirty="0"/>
          </a:p>
        </p:txBody>
      </p:sp>
      <p:sp>
        <p:nvSpPr>
          <p:cNvPr id="27" name="Shape 25"/>
          <p:cNvSpPr/>
          <p:nvPr/>
        </p:nvSpPr>
        <p:spPr>
          <a:xfrm>
            <a:off x="3333750" y="6294561"/>
            <a:ext cx="4102075" cy="1177727"/>
          </a:xfrm>
          <a:prstGeom prst="roundRect">
            <a:avLst>
              <a:gd name="adj" fmla="val 8088"/>
            </a:avLst>
          </a:prstGeom>
          <a:solidFill>
            <a:srgbClr val="FFFFFF"/>
          </a:solidFill>
          <a:ln w="7937">
            <a:solidFill>
              <a:srgbClr val="E5E5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08338" y="6550050"/>
            <a:ext cx="3659486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75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Documento anexado automaticamente à nota</a:t>
            </a:r>
            <a:endParaRPr lang="en-US" sz="1875" dirty="0"/>
          </a:p>
        </p:txBody>
      </p:sp>
      <p:sp>
        <p:nvSpPr>
          <p:cNvPr id="29" name="Text 27"/>
          <p:cNvSpPr/>
          <p:nvPr/>
        </p:nvSpPr>
        <p:spPr>
          <a:xfrm>
            <a:off x="7588225" y="6732612"/>
            <a:ext cx="495275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8235900" y="6294561"/>
            <a:ext cx="4102075" cy="1177727"/>
          </a:xfrm>
          <a:prstGeom prst="roundRect">
            <a:avLst>
              <a:gd name="adj" fmla="val 8088"/>
            </a:avLst>
          </a:prstGeom>
          <a:solidFill>
            <a:srgbClr val="FFFFFF"/>
          </a:solidFill>
          <a:ln w="7937">
            <a:solidFill>
              <a:srgbClr val="E5E5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10488" y="6716737"/>
            <a:ext cx="350427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75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Analista apenas confere e libera</a:t>
            </a:r>
            <a:endParaRPr lang="en-US" sz="1875" dirty="0"/>
          </a:p>
        </p:txBody>
      </p:sp>
      <p:sp>
        <p:nvSpPr>
          <p:cNvPr id="32" name="Text 30"/>
          <p:cNvSpPr/>
          <p:nvPr/>
        </p:nvSpPr>
        <p:spPr>
          <a:xfrm>
            <a:off x="12490375" y="6732612"/>
            <a:ext cx="495275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33" name="Shape 31"/>
          <p:cNvSpPr/>
          <p:nvPr/>
        </p:nvSpPr>
        <p:spPr>
          <a:xfrm>
            <a:off x="13138050" y="6294561"/>
            <a:ext cx="4102075" cy="1177727"/>
          </a:xfrm>
          <a:prstGeom prst="roundRect">
            <a:avLst>
              <a:gd name="adj" fmla="val 8088"/>
            </a:avLst>
          </a:prstGeom>
          <a:solidFill>
            <a:srgbClr val="FFF0E3"/>
          </a:solidFill>
          <a:ln w="7937">
            <a:solidFill>
              <a:srgbClr val="FFD9B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3412638" y="6550050"/>
            <a:ext cx="3659486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75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Destravamento da nota: de dias para minutos</a:t>
            </a:r>
            <a:endParaRPr lang="en-US" sz="18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40594"/>
            <a:ext cx="323825" cy="28525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3" name="Text 1"/>
          <p:cNvSpPr/>
          <p:nvPr/>
        </p:nvSpPr>
        <p:spPr>
          <a:xfrm>
            <a:off x="1504900" y="800075"/>
            <a:ext cx="120332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spc="225" kern="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TRAÇÃO</a:t>
            </a:r>
            <a:endParaRPr lang="en-US" sz="1875" dirty="0"/>
          </a:p>
        </p:txBody>
      </p:sp>
      <p:sp>
        <p:nvSpPr>
          <p:cNvPr id="4" name="Text 2"/>
          <p:cNvSpPr/>
          <p:nvPr/>
        </p:nvSpPr>
        <p:spPr>
          <a:xfrm>
            <a:off x="1047750" y="1452438"/>
            <a:ext cx="12318750" cy="7124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4500" b="1" spc="-9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Receita real. Bootstrap puro.</a:t>
            </a:r>
            <a:pPr algn="l" indent="0" marL="0">
              <a:lnSpc>
                <a:spcPct val="118000"/>
              </a:lnSpc>
              <a:buNone/>
            </a:pPr>
            <a:r>
              <a:rPr lang="en-US" sz="4500" b="1" spc="-90" kern="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capital externo.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1047750" y="4622477"/>
            <a:ext cx="9810750" cy="146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0" b="1" spc="-45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R$ 43.000</a:t>
            </a:r>
            <a:endParaRPr lang="en-US" sz="11250" dirty="0"/>
          </a:p>
        </p:txBody>
      </p:sp>
      <p:sp>
        <p:nvSpPr>
          <p:cNvPr id="6" name="Text 4"/>
          <p:cNvSpPr/>
          <p:nvPr/>
        </p:nvSpPr>
        <p:spPr>
          <a:xfrm>
            <a:off x="1047750" y="6279803"/>
            <a:ext cx="9810750" cy="434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8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MRR com um único cliente enterprise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47750" y="6905253"/>
            <a:ext cx="7456170" cy="8097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Produto em produção e receita recorrente sem um real de capital externo — eficiência de capital demonstrada.</a:t>
            </a:r>
            <a:endParaRPr lang="en-US" sz="2025" dirty="0"/>
          </a:p>
        </p:txBody>
      </p:sp>
      <p:sp>
        <p:nvSpPr>
          <p:cNvPr id="8" name="Shape 6"/>
          <p:cNvSpPr/>
          <p:nvPr/>
        </p:nvSpPr>
        <p:spPr>
          <a:xfrm>
            <a:off x="11334750" y="3442642"/>
            <a:ext cx="9525" cy="5414119"/>
          </a:xfrm>
          <a:prstGeom prst="rect">
            <a:avLst/>
          </a:prstGeom>
          <a:solidFill>
            <a:srgbClr val="3F3F3F"/>
          </a:solidFill>
          <a:ln/>
        </p:spPr>
      </p:sp>
      <p:sp>
        <p:nvSpPr>
          <p:cNvPr id="9" name="Text 7"/>
          <p:cNvSpPr/>
          <p:nvPr/>
        </p:nvSpPr>
        <p:spPr>
          <a:xfrm>
            <a:off x="11952262" y="3690193"/>
            <a:ext cx="5446627" cy="458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células deployadas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11952262" y="4244206"/>
            <a:ext cx="5446627" cy="577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Controladoria / Contabilidade · R$ 19.800/mês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11952262" y="4917281"/>
            <a:ext cx="5446627" cy="307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Financeiro · R$ 23.200/mês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11952262" y="5434707"/>
            <a:ext cx="5287987" cy="9525"/>
          </a:xfrm>
          <a:prstGeom prst="rect">
            <a:avLst/>
          </a:prstGeom>
          <a:solidFill>
            <a:srgbClr val="3F3F3F"/>
          </a:solidFill>
          <a:ln/>
        </p:spPr>
      </p:sp>
      <p:sp>
        <p:nvSpPr>
          <p:cNvPr id="13" name="Text 11"/>
          <p:cNvSpPr/>
          <p:nvPr/>
        </p:nvSpPr>
        <p:spPr>
          <a:xfrm>
            <a:off x="11952262" y="5691683"/>
            <a:ext cx="5446627" cy="458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Contratos de 3+ meses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11952262" y="6207621"/>
            <a:ext cx="5446627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75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conversão anual em condições preferenciais.</a:t>
            </a:r>
            <a:endParaRPr lang="en-US" sz="1875" dirty="0"/>
          </a:p>
        </p:txBody>
      </p:sp>
      <p:sp>
        <p:nvSpPr>
          <p:cNvPr id="15" name="Shape 13"/>
          <p:cNvSpPr/>
          <p:nvPr/>
        </p:nvSpPr>
        <p:spPr>
          <a:xfrm>
            <a:off x="11952262" y="7145734"/>
            <a:ext cx="5287987" cy="9525"/>
          </a:xfrm>
          <a:prstGeom prst="rect">
            <a:avLst/>
          </a:prstGeom>
          <a:solidFill>
            <a:srgbClr val="3F3F3F"/>
          </a:solidFill>
          <a:ln/>
        </p:spPr>
      </p:sp>
      <p:sp>
        <p:nvSpPr>
          <p:cNvPr id="16" name="Text 14"/>
          <p:cNvSpPr/>
          <p:nvPr/>
        </p:nvSpPr>
        <p:spPr>
          <a:xfrm>
            <a:off x="11952262" y="7402711"/>
            <a:ext cx="5446627" cy="458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R$ 0 de capital externo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11952262" y="7918648"/>
            <a:ext cx="5446627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75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Bootstrap puro, do primeiro deploy à receita recorrente.</a:t>
            </a:r>
            <a:endParaRPr lang="en-US" sz="18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40594"/>
            <a:ext cx="323825" cy="28525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3" name="Text 1"/>
          <p:cNvSpPr/>
          <p:nvPr/>
        </p:nvSpPr>
        <p:spPr>
          <a:xfrm>
            <a:off x="1504900" y="800075"/>
            <a:ext cx="309754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spc="225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NEGÓCIO</a:t>
            </a:r>
            <a:endParaRPr lang="en-US" sz="1875" dirty="0"/>
          </a:p>
        </p:txBody>
      </p:sp>
      <p:sp>
        <p:nvSpPr>
          <p:cNvPr id="4" name="Text 2"/>
          <p:cNvSpPr/>
          <p:nvPr/>
        </p:nvSpPr>
        <p:spPr>
          <a:xfrm>
            <a:off x="1047750" y="1452438"/>
            <a:ext cx="15304770" cy="13867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4500" b="1" spc="-90" kern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Alocação de capacidade pré-paga, </a:t>
            </a:r>
            <a:pPr algn="l" indent="0" marL="0">
              <a:lnSpc>
                <a:spcPct val="118000"/>
              </a:lnSpc>
              <a:buNone/>
            </a:pPr>
            <a:r>
              <a:rPr lang="en-US" sz="4500" b="1" spc="-9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expansão por célula.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1047750" y="3372569"/>
            <a:ext cx="9182199" cy="9525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6" name="Text 4"/>
          <p:cNvSpPr/>
          <p:nvPr/>
        </p:nvSpPr>
        <p:spPr>
          <a:xfrm>
            <a:off x="1047750" y="3666257"/>
            <a:ext cx="9457665" cy="442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75" b="1" spc="-25" kern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Mensalidade pré-paga</a:t>
            </a:r>
            <a:endParaRPr lang="en-US" sz="2475" dirty="0"/>
          </a:p>
        </p:txBody>
      </p:sp>
      <p:sp>
        <p:nvSpPr>
          <p:cNvPr id="7" name="Text 5"/>
          <p:cNvSpPr/>
          <p:nvPr/>
        </p:nvSpPr>
        <p:spPr>
          <a:xfrm>
            <a:off x="1047750" y="4166319"/>
            <a:ext cx="9457665" cy="41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025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célula deployada, com capacidade de engenharia dedicada.</a:t>
            </a:r>
            <a:endParaRPr lang="en-US" sz="2025" dirty="0"/>
          </a:p>
        </p:txBody>
      </p:sp>
      <p:sp>
        <p:nvSpPr>
          <p:cNvPr id="8" name="Shape 6"/>
          <p:cNvSpPr/>
          <p:nvPr/>
        </p:nvSpPr>
        <p:spPr>
          <a:xfrm>
            <a:off x="1047750" y="4825008"/>
            <a:ext cx="9182199" cy="9525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9" name="Text 7"/>
          <p:cNvSpPr/>
          <p:nvPr/>
        </p:nvSpPr>
        <p:spPr>
          <a:xfrm>
            <a:off x="1047750" y="5118695"/>
            <a:ext cx="9457665" cy="442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75" b="1" spc="-25" kern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Land-and-expand</a:t>
            </a:r>
            <a:endParaRPr lang="en-US" sz="2475" dirty="0"/>
          </a:p>
        </p:txBody>
      </p:sp>
      <p:sp>
        <p:nvSpPr>
          <p:cNvPr id="10" name="Text 8"/>
          <p:cNvSpPr/>
          <p:nvPr/>
        </p:nvSpPr>
        <p:spPr>
          <a:xfrm>
            <a:off x="1047750" y="5618758"/>
            <a:ext cx="9457665" cy="783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025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Expansão dentro do mesmo cliente: Controladoria → Financeiro → próximas áreas.</a:t>
            </a:r>
            <a:endParaRPr lang="en-US" sz="2025" dirty="0"/>
          </a:p>
        </p:txBody>
      </p:sp>
      <p:sp>
        <p:nvSpPr>
          <p:cNvPr id="11" name="Shape 9"/>
          <p:cNvSpPr/>
          <p:nvPr/>
        </p:nvSpPr>
        <p:spPr>
          <a:xfrm>
            <a:off x="1047750" y="8102823"/>
            <a:ext cx="9182199" cy="9525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12" name="Shape 10"/>
          <p:cNvSpPr/>
          <p:nvPr/>
        </p:nvSpPr>
        <p:spPr>
          <a:xfrm>
            <a:off x="1047750" y="6650385"/>
            <a:ext cx="9182199" cy="9525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13" name="Text 11"/>
          <p:cNvSpPr/>
          <p:nvPr/>
        </p:nvSpPr>
        <p:spPr>
          <a:xfrm>
            <a:off x="1047750" y="6944072"/>
            <a:ext cx="9457665" cy="442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75" b="1" spc="-25" kern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 composta</a:t>
            </a:r>
            <a:endParaRPr lang="en-US" sz="2475" dirty="0"/>
          </a:p>
        </p:txBody>
      </p:sp>
      <p:sp>
        <p:nvSpPr>
          <p:cNvPr id="14" name="Text 12"/>
          <p:cNvSpPr/>
          <p:nvPr/>
        </p:nvSpPr>
        <p:spPr>
          <a:xfrm>
            <a:off x="1047750" y="7444135"/>
            <a:ext cx="9457665" cy="41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025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célula entrega múltiplas frentes de automação por trimestre.</a:t>
            </a:r>
            <a:endParaRPr lang="en-US" sz="2025" dirty="0"/>
          </a:p>
        </p:txBody>
      </p:sp>
      <p:sp>
        <p:nvSpPr>
          <p:cNvPr id="15" name="Shape 13"/>
          <p:cNvSpPr/>
          <p:nvPr/>
        </p:nvSpPr>
        <p:spPr>
          <a:xfrm>
            <a:off x="11144250" y="3372569"/>
            <a:ext cx="6096000" cy="4778995"/>
          </a:xfrm>
          <a:prstGeom prst="roundRect">
            <a:avLst>
              <a:gd name="adj" fmla="val 2392"/>
            </a:avLst>
          </a:prstGeom>
          <a:solidFill>
            <a:srgbClr val="FFFFFF"/>
          </a:solidFill>
          <a:ln w="7937">
            <a:solidFill>
              <a:srgbClr val="E5E5E5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1685488" y="3837657"/>
            <a:ext cx="990501" cy="839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12866439" y="4051970"/>
            <a:ext cx="3947549" cy="411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enterprise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1933138" y="4696395"/>
            <a:ext cx="4916279" cy="3635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1685488" y="5361161"/>
            <a:ext cx="990501" cy="839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8C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4800" dirty="0"/>
          </a:p>
        </p:txBody>
      </p:sp>
      <p:sp>
        <p:nvSpPr>
          <p:cNvPr id="20" name="Text 18"/>
          <p:cNvSpPr/>
          <p:nvPr/>
        </p:nvSpPr>
        <p:spPr>
          <a:xfrm>
            <a:off x="12866439" y="5078884"/>
            <a:ext cx="3947549" cy="411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células deployadas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12866439" y="5566172"/>
            <a:ext cx="1731119" cy="391914"/>
          </a:xfrm>
          <a:prstGeom prst="roundRect">
            <a:avLst>
              <a:gd name="adj" fmla="val 50000"/>
            </a:avLst>
          </a:prstGeom>
          <a:ln w="7937">
            <a:solidFill>
              <a:srgbClr val="C0C0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045827" y="5631259"/>
            <a:ext cx="1448544" cy="2998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Controladoria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4692808" y="5566172"/>
            <a:ext cx="1426021" cy="391914"/>
          </a:xfrm>
          <a:prstGeom prst="roundRect">
            <a:avLst>
              <a:gd name="adj" fmla="val 50000"/>
            </a:avLst>
          </a:prstGeom>
          <a:ln w="7937">
            <a:solidFill>
              <a:srgbClr val="C0C0C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4872195" y="5631259"/>
            <a:ext cx="1143446" cy="2998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Financeiro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2866439" y="6053336"/>
            <a:ext cx="1692796" cy="391914"/>
          </a:xfrm>
          <a:prstGeom prst="roundRect">
            <a:avLst>
              <a:gd name="adj" fmla="val 50000"/>
            </a:avLst>
          </a:prstGeom>
          <a:ln w="7937">
            <a:solidFill>
              <a:srgbClr val="C0C0C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13045827" y="6118423"/>
            <a:ext cx="1410221" cy="2998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próxima área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1933138" y="6502301"/>
            <a:ext cx="4916279" cy="3635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</a:t>
            </a:r>
            <a:endParaRPr lang="en-US" sz="2250" dirty="0"/>
          </a:p>
        </p:txBody>
      </p:sp>
      <p:sp>
        <p:nvSpPr>
          <p:cNvPr id="28" name="Text 26"/>
          <p:cNvSpPr/>
          <p:nvPr/>
        </p:nvSpPr>
        <p:spPr>
          <a:xfrm>
            <a:off x="11685488" y="6884789"/>
            <a:ext cx="990501" cy="839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8C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4800" dirty="0"/>
          </a:p>
        </p:txBody>
      </p:sp>
      <p:sp>
        <p:nvSpPr>
          <p:cNvPr id="29" name="Text 27"/>
          <p:cNvSpPr/>
          <p:nvPr/>
        </p:nvSpPr>
        <p:spPr>
          <a:xfrm>
            <a:off x="12866439" y="7099102"/>
            <a:ext cx="3947549" cy="411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áreas automatizadas</a:t>
            </a:r>
            <a:endParaRPr lang="en-US" sz="2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40594"/>
            <a:ext cx="323825" cy="28525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3" name="Text 1"/>
          <p:cNvSpPr/>
          <p:nvPr/>
        </p:nvSpPr>
        <p:spPr>
          <a:xfrm>
            <a:off x="1504900" y="800075"/>
            <a:ext cx="145980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spc="225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MERCADO</a:t>
            </a:r>
            <a:endParaRPr lang="en-US" sz="1875" dirty="0"/>
          </a:p>
        </p:txBody>
      </p:sp>
      <p:sp>
        <p:nvSpPr>
          <p:cNvPr id="4" name="Text 2"/>
          <p:cNvSpPr/>
          <p:nvPr/>
        </p:nvSpPr>
        <p:spPr>
          <a:xfrm>
            <a:off x="1047750" y="1452438"/>
            <a:ext cx="15304770" cy="12517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4050" b="1" spc="-81" kern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Beachhead: tradings e importadoras de grande porte </a:t>
            </a:r>
            <a:pPr algn="l" indent="0" marL="0">
              <a:lnSpc>
                <a:spcPct val="118000"/>
              </a:lnSpc>
              <a:buNone/>
            </a:pPr>
            <a:r>
              <a:rPr lang="en-US" sz="4050" b="1" spc="-81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operando ERPs de Comex.</a:t>
            </a:r>
            <a:endParaRPr lang="en-US" sz="4050" dirty="0"/>
          </a:p>
        </p:txBody>
      </p:sp>
      <p:sp>
        <p:nvSpPr>
          <p:cNvPr id="5" name="Shape 3"/>
          <p:cNvSpPr/>
          <p:nvPr/>
        </p:nvSpPr>
        <p:spPr>
          <a:xfrm>
            <a:off x="1047750" y="3199433"/>
            <a:ext cx="7562825" cy="3485803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5875">
            <a:solidFill>
              <a:srgbClr val="FF8C42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520775" y="3634383"/>
            <a:ext cx="6815277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FF8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BEACHHEAD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20775" y="4107408"/>
            <a:ext cx="6815277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700" b="1" spc="-27" kern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Tradings e comerciais importadoras no Brasil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1520775" y="5136059"/>
            <a:ext cx="6815277" cy="8097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 aguda em reconciliação, pagamentos e documentação — onde a Kavex já opera em produção.</a:t>
            </a:r>
            <a:endParaRPr lang="en-US" sz="2025" dirty="0"/>
          </a:p>
        </p:txBody>
      </p:sp>
      <p:sp>
        <p:nvSpPr>
          <p:cNvPr id="9" name="Text 7"/>
          <p:cNvSpPr/>
          <p:nvPr/>
        </p:nvSpPr>
        <p:spPr>
          <a:xfrm>
            <a:off x="8801050" y="4747865"/>
            <a:ext cx="685775" cy="4270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677301" y="3199433"/>
            <a:ext cx="7562949" cy="3485803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7937">
            <a:solidFill>
              <a:srgbClr val="E5E5E5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142388" y="3626445"/>
            <a:ext cx="6831756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MERCADOS ADJACENTES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142388" y="4699496"/>
            <a:ext cx="6632773" cy="9525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3" name="Text 11"/>
          <p:cNvSpPr/>
          <p:nvPr/>
        </p:nvSpPr>
        <p:spPr>
          <a:xfrm>
            <a:off x="10142388" y="4232821"/>
            <a:ext cx="6831756" cy="371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Despachantes aduaneiros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10142388" y="5478859"/>
            <a:ext cx="6632773" cy="9525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5" name="Text 13"/>
          <p:cNvSpPr/>
          <p:nvPr/>
        </p:nvSpPr>
        <p:spPr>
          <a:xfrm>
            <a:off x="10142388" y="5012184"/>
            <a:ext cx="6831756" cy="371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Operadores logísticos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0142388" y="5791547"/>
            <a:ext cx="6831756" cy="371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Indústrias importadoras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1047750" y="9105180"/>
            <a:ext cx="297733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spc="15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CRITÉRIO DE SELEÇÃO</a:t>
            </a:r>
            <a:endParaRPr lang="en-US" sz="1875" dirty="0"/>
          </a:p>
        </p:txBody>
      </p:sp>
      <p:sp>
        <p:nvSpPr>
          <p:cNvPr id="18" name="Shape 16"/>
          <p:cNvSpPr/>
          <p:nvPr/>
        </p:nvSpPr>
        <p:spPr>
          <a:xfrm>
            <a:off x="4128864" y="9032999"/>
            <a:ext cx="1629544" cy="45392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937">
            <a:solidFill>
              <a:srgbClr val="C0C0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65402" y="9117136"/>
            <a:ext cx="1232669" cy="3237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 aguda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5948908" y="9032999"/>
            <a:ext cx="1766962" cy="45392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937">
            <a:solidFill>
              <a:srgbClr val="C0C0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85445" y="9117136"/>
            <a:ext cx="1370087" cy="3237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Acesso real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7906370" y="9032999"/>
            <a:ext cx="2841377" cy="45392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937">
            <a:solidFill>
              <a:srgbClr val="C0C0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42907" y="9117136"/>
            <a:ext cx="2453543" cy="3237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Capacidade de pagar</a:t>
            </a:r>
            <a:endParaRPr lang="en-US" sz="1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40594"/>
            <a:ext cx="323825" cy="28525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3" name="Text 1"/>
          <p:cNvSpPr/>
          <p:nvPr/>
        </p:nvSpPr>
        <p:spPr>
          <a:xfrm>
            <a:off x="1504900" y="800075"/>
            <a:ext cx="357019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spc="225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VANTAGEM COMPETITIVA</a:t>
            </a:r>
            <a:endParaRPr lang="en-US" sz="1875" dirty="0"/>
          </a:p>
        </p:txBody>
      </p:sp>
      <p:sp>
        <p:nvSpPr>
          <p:cNvPr id="4" name="Text 2"/>
          <p:cNvSpPr/>
          <p:nvPr/>
        </p:nvSpPr>
        <p:spPr>
          <a:xfrm>
            <a:off x="1047750" y="1452438"/>
            <a:ext cx="15304770" cy="13867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4500" b="1" spc="-90" kern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ativo é o domínio: </a:t>
            </a:r>
            <a:pPr algn="l" indent="0" marL="0">
              <a:lnSpc>
                <a:spcPct val="118000"/>
              </a:lnSpc>
              <a:buNone/>
            </a:pPr>
            <a:r>
              <a:rPr lang="en-US" sz="4500" b="1" spc="-9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engenheiros que entendem Comex de dentro da operação.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1047750" y="3296295"/>
            <a:ext cx="16192500" cy="9525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6" name="Text 4"/>
          <p:cNvSpPr/>
          <p:nvPr/>
        </p:nvSpPr>
        <p:spPr>
          <a:xfrm>
            <a:off x="1047750" y="3628058"/>
            <a:ext cx="121920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8C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2495476" y="3628058"/>
            <a:ext cx="510159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700" b="1" spc="-27" kern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Conhecimento de domínio raro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7753201" y="3675683"/>
            <a:ext cx="9771660" cy="8380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NCM, emolumentos, fin010, fluxos de nacionalização — aprendido dentro da operação, não em pesquisa.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1047750" y="4799459"/>
            <a:ext cx="16192500" cy="9525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10" name="Text 8"/>
          <p:cNvSpPr/>
          <p:nvPr/>
        </p:nvSpPr>
        <p:spPr>
          <a:xfrm>
            <a:off x="1047750" y="5131222"/>
            <a:ext cx="121920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8C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2495476" y="5131222"/>
            <a:ext cx="510159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700" b="1" spc="-27" kern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históricos proprietários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7753201" y="5178847"/>
            <a:ext cx="9771660" cy="8380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mês em produção acumula base de anomalias e exceções que vira camada de inteligência.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1047750" y="7805787"/>
            <a:ext cx="16192500" cy="9525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14" name="Shape 12"/>
          <p:cNvSpPr/>
          <p:nvPr/>
        </p:nvSpPr>
        <p:spPr>
          <a:xfrm>
            <a:off x="1047750" y="6302623"/>
            <a:ext cx="16192500" cy="9525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15" name="Text 13"/>
          <p:cNvSpPr/>
          <p:nvPr/>
        </p:nvSpPr>
        <p:spPr>
          <a:xfrm>
            <a:off x="1047750" y="6634386"/>
            <a:ext cx="121920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8C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2495476" y="6634386"/>
            <a:ext cx="510159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700" b="1" spc="-27" kern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 de troca crescente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7753201" y="6682011"/>
            <a:ext cx="9771660" cy="8380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solução adere aos padrões de arquitetura do cliente e se integra ao coração da operação financeira.</a:t>
            </a:r>
            <a:endParaRPr lang="en-US" sz="2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40594"/>
            <a:ext cx="323825" cy="28525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3" name="Text 1"/>
          <p:cNvSpPr/>
          <p:nvPr/>
        </p:nvSpPr>
        <p:spPr>
          <a:xfrm>
            <a:off x="1504900" y="800075"/>
            <a:ext cx="928241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spc="225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VISÃO</a:t>
            </a:r>
            <a:endParaRPr lang="en-US" sz="1875" dirty="0"/>
          </a:p>
        </p:txBody>
      </p:sp>
      <p:sp>
        <p:nvSpPr>
          <p:cNvPr id="4" name="Text 2"/>
          <p:cNvSpPr/>
          <p:nvPr/>
        </p:nvSpPr>
        <p:spPr>
          <a:xfrm>
            <a:off x="1047750" y="1452438"/>
            <a:ext cx="9496627" cy="7124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4500" b="1" spc="-90" kern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FDE é a Fase 1.</a:t>
            </a:r>
            <a:pPr algn="l" indent="0" marL="0">
              <a:lnSpc>
                <a:spcPct val="118000"/>
              </a:lnSpc>
              <a:buNone/>
            </a:pPr>
            <a:r>
              <a:rPr lang="en-US" sz="4500" b="1" spc="-9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destino é plataforma.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1047750" y="2736329"/>
            <a:ext cx="5041925" cy="4154289"/>
          </a:xfrm>
          <a:prstGeom prst="roundRect">
            <a:avLst>
              <a:gd name="adj" fmla="val 2751"/>
            </a:avLst>
          </a:prstGeom>
          <a:solidFill>
            <a:srgbClr val="FFFFFF"/>
          </a:solidFill>
          <a:ln w="15875">
            <a:solidFill>
              <a:srgbClr val="FF8C42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444625" y="3171279"/>
            <a:ext cx="1008980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FASE 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529706" y="3133204"/>
            <a:ext cx="814214" cy="377775"/>
          </a:xfrm>
          <a:prstGeom prst="roundRect">
            <a:avLst>
              <a:gd name="adj" fmla="val 50000"/>
            </a:avLst>
          </a:prstGeom>
          <a:solidFill>
            <a:srgbClr val="FF8C42"/>
          </a:solidFill>
          <a:ln/>
        </p:spPr>
      </p:sp>
      <p:sp>
        <p:nvSpPr>
          <p:cNvPr id="8" name="Text 6"/>
          <p:cNvSpPr/>
          <p:nvPr/>
        </p:nvSpPr>
        <p:spPr>
          <a:xfrm>
            <a:off x="2701156" y="3171304"/>
            <a:ext cx="547514" cy="339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44625" y="3663280"/>
            <a:ext cx="4375620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spc="-30" kern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FDE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444625" y="4315644"/>
            <a:ext cx="4375620" cy="7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Deployments constroem receita + conhecimento de domínio.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6051575" y="4626942"/>
            <a:ext cx="609501" cy="411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5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6622975" y="2736329"/>
            <a:ext cx="5041925" cy="4154289"/>
          </a:xfrm>
          <a:prstGeom prst="roundRect">
            <a:avLst>
              <a:gd name="adj" fmla="val 2751"/>
            </a:avLst>
          </a:prstGeom>
          <a:solidFill>
            <a:srgbClr val="FFFFFF"/>
          </a:solidFill>
          <a:ln w="7937">
            <a:solidFill>
              <a:srgbClr val="E5E5E5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011913" y="3163367"/>
            <a:ext cx="4391971" cy="339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FASE 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011913" y="3655343"/>
            <a:ext cx="4391971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spc="-30" kern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 multi-tenant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7011913" y="4307706"/>
            <a:ext cx="4391971" cy="7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se repete entre clientes vira produto.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7011913" y="5202907"/>
            <a:ext cx="4264050" cy="1298773"/>
          </a:xfrm>
          <a:prstGeom prst="roundRect">
            <a:avLst>
              <a:gd name="adj" fmla="val 5867"/>
            </a:avLst>
          </a:prstGeom>
          <a:solidFill>
            <a:srgbClr val="FFF0E3"/>
          </a:solidFill>
          <a:ln/>
        </p:spPr>
      </p:sp>
      <p:sp>
        <p:nvSpPr>
          <p:cNvPr id="17" name="Text 15"/>
          <p:cNvSpPr/>
          <p:nvPr/>
        </p:nvSpPr>
        <p:spPr>
          <a:xfrm>
            <a:off x="7202413" y="5355307"/>
            <a:ext cx="4010971" cy="1032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Critério de transição: reuso de código &gt; 70% do cliente 1 → cliente 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626800" y="4626942"/>
            <a:ext cx="609501" cy="411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5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12198201" y="2736329"/>
            <a:ext cx="5041925" cy="4154289"/>
          </a:xfrm>
          <a:prstGeom prst="roundRect">
            <a:avLst>
              <a:gd name="adj" fmla="val 2751"/>
            </a:avLst>
          </a:prstGeom>
          <a:solidFill>
            <a:srgbClr val="FFFFFF"/>
          </a:solidFill>
          <a:ln w="7937">
            <a:solidFill>
              <a:srgbClr val="E5E5E5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2587139" y="3163367"/>
            <a:ext cx="4391971" cy="339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FASE 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587139" y="3655343"/>
            <a:ext cx="4391971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spc="-30" kern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BPO tecnológico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12587139" y="4307706"/>
            <a:ext cx="4391971" cy="7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operador gerencia múltiplos clientes através da plataforma.</a:t>
            </a:r>
            <a:endParaRPr lang="en-US" sz="1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42309" y="3581301"/>
            <a:ext cx="2307382" cy="506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850" b="1" spc="-29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Nome do CEO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4784834" y="4240113"/>
            <a:ext cx="2622332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spc="180" kern="0" dirty="0">
                <a:solidFill>
                  <a:srgbClr val="FF8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 · CO-FOUNDER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741420" y="4732238"/>
            <a:ext cx="4709160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875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Inteli · Trilha de Empreendedorismo — embedded em operação real de Comex.</a:t>
            </a:r>
            <a:endParaRPr lang="en-US" sz="1875" dirty="0"/>
          </a:p>
        </p:txBody>
      </p:sp>
      <p:sp>
        <p:nvSpPr>
          <p:cNvPr id="5" name="Text 3"/>
          <p:cNvSpPr/>
          <p:nvPr/>
        </p:nvSpPr>
        <p:spPr>
          <a:xfrm>
            <a:off x="10433730" y="3581301"/>
            <a:ext cx="3516541" cy="506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850" b="1" spc="-29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Nome do Co-founder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1271472" y="4240113"/>
            <a:ext cx="1841053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spc="180" kern="0" dirty="0">
                <a:solidFill>
                  <a:srgbClr val="FF8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CO-FOUNDER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837420" y="4732238"/>
            <a:ext cx="4709160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875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Inteli · Trilha de Empreendedorismo — embedded em operação real de Comex.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1785938" y="7672462"/>
            <a:ext cx="14716125" cy="1276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3750" b="1" spc="-7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Construímos de dentro da operação.Receita antes de captação. </a:t>
            </a:r>
            <a:pPr algn="ctr" indent="0" marL="0">
              <a:lnSpc>
                <a:spcPct val="130000"/>
              </a:lnSpc>
              <a:buNone/>
            </a:pPr>
            <a:r>
              <a:rPr lang="en-US" sz="3750" b="1" spc="-75" kern="0" dirty="0">
                <a:solidFill>
                  <a:srgbClr val="FF8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 como destino.</a:t>
            </a:r>
            <a:endParaRPr lang="en-US" sz="3750" dirty="0"/>
          </a:p>
        </p:txBody>
      </p:sp>
      <p:sp>
        <p:nvSpPr>
          <p:cNvPr id="9" name="Text 7"/>
          <p:cNvSpPr/>
          <p:nvPr/>
        </p:nvSpPr>
        <p:spPr>
          <a:xfrm>
            <a:off x="7930902" y="9177362"/>
            <a:ext cx="2426196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75" b="1" spc="225" kern="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OBRIGADO · Q&amp;A</a:t>
            </a:r>
            <a:endParaRPr lang="en-US" sz="18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40594"/>
            <a:ext cx="323825" cy="28525"/>
          </a:xfrm>
          <a:prstGeom prst="rect">
            <a:avLst/>
          </a:prstGeom>
          <a:solidFill>
            <a:srgbClr val="9A9A9A"/>
          </a:solidFill>
          <a:ln/>
        </p:spPr>
      </p:sp>
      <p:sp>
        <p:nvSpPr>
          <p:cNvPr id="3" name="Text 1"/>
          <p:cNvSpPr/>
          <p:nvPr/>
        </p:nvSpPr>
        <p:spPr>
          <a:xfrm>
            <a:off x="1504900" y="800075"/>
            <a:ext cx="345918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spc="225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APÊNDICE · PARA O Q&amp;A</a:t>
            </a:r>
            <a:endParaRPr lang="en-US" sz="1875" dirty="0"/>
          </a:p>
        </p:txBody>
      </p:sp>
      <p:sp>
        <p:nvSpPr>
          <p:cNvPr id="4" name="Text 2"/>
          <p:cNvSpPr/>
          <p:nvPr/>
        </p:nvSpPr>
        <p:spPr>
          <a:xfrm>
            <a:off x="1047750" y="1452438"/>
            <a:ext cx="10012075" cy="7124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4500" b="1" spc="-90" kern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Requisitos não-funcionais das soluções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1047750" y="2660054"/>
            <a:ext cx="5219650" cy="1941835"/>
          </a:xfrm>
          <a:prstGeom prst="roundRect">
            <a:avLst>
              <a:gd name="adj" fmla="val 5886"/>
            </a:avLst>
          </a:prstGeom>
          <a:solidFill>
            <a:srgbClr val="FFFFFF"/>
          </a:solidFill>
          <a:ln w="7937">
            <a:solidFill>
              <a:srgbClr val="E5E5E5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98488" y="3010793"/>
            <a:ext cx="4653719" cy="4270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spc="-23" kern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Autenticação corporativa</a:t>
            </a:r>
            <a:endParaRPr lang="en-US" sz="2325" dirty="0"/>
          </a:p>
        </p:txBody>
      </p:sp>
      <p:sp>
        <p:nvSpPr>
          <p:cNvPr id="7" name="Text 5"/>
          <p:cNvSpPr/>
          <p:nvPr/>
        </p:nvSpPr>
        <p:spPr>
          <a:xfrm>
            <a:off x="1398488" y="3533056"/>
            <a:ext cx="4653719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Acesso via identidade corporativa do cliente.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6534051" y="2660054"/>
            <a:ext cx="5219774" cy="1941835"/>
          </a:xfrm>
          <a:prstGeom prst="roundRect">
            <a:avLst>
              <a:gd name="adj" fmla="val 5886"/>
            </a:avLst>
          </a:prstGeom>
          <a:solidFill>
            <a:srgbClr val="FFFFFF"/>
          </a:solidFill>
          <a:ln w="7937">
            <a:solidFill>
              <a:srgbClr val="E5E5E5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84789" y="3010793"/>
            <a:ext cx="4653847" cy="4270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spc="-23" kern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Multi-filial</a:t>
            </a:r>
            <a:endParaRPr lang="en-US" sz="2325" dirty="0"/>
          </a:p>
        </p:txBody>
      </p:sp>
      <p:sp>
        <p:nvSpPr>
          <p:cNvPr id="10" name="Text 8"/>
          <p:cNvSpPr/>
          <p:nvPr/>
        </p:nvSpPr>
        <p:spPr>
          <a:xfrm>
            <a:off x="6884789" y="3533056"/>
            <a:ext cx="4653847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Operação em múltiplas filiais desde o design.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12020476" y="2660054"/>
            <a:ext cx="5219774" cy="1941835"/>
          </a:xfrm>
          <a:prstGeom prst="roundRect">
            <a:avLst>
              <a:gd name="adj" fmla="val 5886"/>
            </a:avLst>
          </a:prstGeom>
          <a:solidFill>
            <a:srgbClr val="FFFFFF"/>
          </a:solidFill>
          <a:ln w="7937">
            <a:solidFill>
              <a:srgbClr val="E5E5E5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2371213" y="3010793"/>
            <a:ext cx="4653847" cy="4270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spc="-23" kern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Auditoria completa</a:t>
            </a:r>
            <a:endParaRPr lang="en-US" sz="2325" dirty="0"/>
          </a:p>
        </p:txBody>
      </p:sp>
      <p:sp>
        <p:nvSpPr>
          <p:cNvPr id="13" name="Text 11"/>
          <p:cNvSpPr/>
          <p:nvPr/>
        </p:nvSpPr>
        <p:spPr>
          <a:xfrm>
            <a:off x="12371213" y="3533056"/>
            <a:ext cx="4653847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Trilha de toda ação executada — automática ou humana.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1047750" y="4868540"/>
            <a:ext cx="5219650" cy="1941835"/>
          </a:xfrm>
          <a:prstGeom prst="roundRect">
            <a:avLst>
              <a:gd name="adj" fmla="val 5886"/>
            </a:avLst>
          </a:prstGeom>
          <a:solidFill>
            <a:srgbClr val="FFFFFF"/>
          </a:solidFill>
          <a:ln w="7937">
            <a:solidFill>
              <a:srgbClr val="E5E5E5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398488" y="5219278"/>
            <a:ext cx="4653719" cy="4270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spc="-23" kern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Integração resiliente com o ERP</a:t>
            </a:r>
            <a:endParaRPr lang="en-US" sz="2325" dirty="0"/>
          </a:p>
        </p:txBody>
      </p:sp>
      <p:sp>
        <p:nvSpPr>
          <p:cNvPr id="16" name="Text 14"/>
          <p:cNvSpPr/>
          <p:nvPr/>
        </p:nvSpPr>
        <p:spPr>
          <a:xfrm>
            <a:off x="1398488" y="5741541"/>
            <a:ext cx="4653719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Falhas do ERP não param a operação.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6534051" y="4868540"/>
            <a:ext cx="5219774" cy="1941835"/>
          </a:xfrm>
          <a:prstGeom prst="roundRect">
            <a:avLst>
              <a:gd name="adj" fmla="val 5886"/>
            </a:avLst>
          </a:prstGeom>
          <a:solidFill>
            <a:srgbClr val="FFFFFF"/>
          </a:solidFill>
          <a:ln w="7937">
            <a:solidFill>
              <a:srgbClr val="E5E5E5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84789" y="5219278"/>
            <a:ext cx="4653847" cy="4270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spc="-23" kern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Observabilidade</a:t>
            </a:r>
            <a:endParaRPr lang="en-US" sz="2325" dirty="0"/>
          </a:p>
        </p:txBody>
      </p:sp>
      <p:sp>
        <p:nvSpPr>
          <p:cNvPr id="19" name="Text 17"/>
          <p:cNvSpPr/>
          <p:nvPr/>
        </p:nvSpPr>
        <p:spPr>
          <a:xfrm>
            <a:off x="6884789" y="5741541"/>
            <a:ext cx="4653847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Métricas e alertas sobre cada fluxo em produção.</a:t>
            </a:r>
            <a:endParaRPr lang="en-US" sz="1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2026-06-10T06:44:14Z</dcterms:created>
  <dcterms:modified xsi:type="dcterms:W3CDTF">2026-06-10T06:44:14Z</dcterms:modified>
</cp:coreProperties>
</file>